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99481"/>
            <a:ext cx="10091323" cy="418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9"/>
              </a:lnSpc>
            </a:pPr>
            <a:r>
              <a:rPr lang="en-US" sz="587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PYKV: A SCALABLE IN-MEMORY KEY–VALUE STORE WITH INTELLIGENT PERSISTENCE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90575"/>
            <a:ext cx="9592218" cy="152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78"/>
              </a:lnSpc>
            </a:pPr>
            <a:r>
              <a:rPr lang="en-US" sz="848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 C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8116" y="2859562"/>
            <a:ext cx="7088425" cy="297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DIVYAPPRIYA S</a:t>
            </a:r>
          </a:p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MANASHI DEBNATH </a:t>
            </a:r>
          </a:p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HARI PRIYAN </a:t>
            </a:r>
          </a:p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SHAIK MAHABOOB BASHA </a:t>
            </a:r>
          </a:p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DEVANSH TANTWAY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4679" y="1442420"/>
            <a:ext cx="15018641" cy="7402160"/>
            <a:chOff x="0" y="0"/>
            <a:chExt cx="3955527" cy="1949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5527" cy="1949540"/>
            </a:xfrm>
            <a:custGeom>
              <a:avLst/>
              <a:gdLst/>
              <a:ahLst/>
              <a:cxnLst/>
              <a:rect r="r" b="b" t="t" l="l"/>
              <a:pathLst>
                <a:path h="1949540" w="3955527">
                  <a:moveTo>
                    <a:pt x="26290" y="0"/>
                  </a:moveTo>
                  <a:lnTo>
                    <a:pt x="3929237" y="0"/>
                  </a:lnTo>
                  <a:cubicBezTo>
                    <a:pt x="3943757" y="0"/>
                    <a:pt x="3955527" y="11770"/>
                    <a:pt x="3955527" y="26290"/>
                  </a:cubicBezTo>
                  <a:lnTo>
                    <a:pt x="3955527" y="1923250"/>
                  </a:lnTo>
                  <a:cubicBezTo>
                    <a:pt x="3955527" y="1937770"/>
                    <a:pt x="3943757" y="1949540"/>
                    <a:pt x="3929237" y="1949540"/>
                  </a:cubicBezTo>
                  <a:lnTo>
                    <a:pt x="26290" y="1949540"/>
                  </a:lnTo>
                  <a:cubicBezTo>
                    <a:pt x="11770" y="1949540"/>
                    <a:pt x="0" y="1937770"/>
                    <a:pt x="0" y="1923250"/>
                  </a:cubicBezTo>
                  <a:lnTo>
                    <a:pt x="0" y="26290"/>
                  </a:lnTo>
                  <a:cubicBezTo>
                    <a:pt x="0" y="11770"/>
                    <a:pt x="11770" y="0"/>
                    <a:pt x="2629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955527" cy="200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525267" y="1527896"/>
            <a:ext cx="5237466" cy="84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1"/>
              </a:lnSpc>
            </a:pPr>
            <a:r>
              <a:rPr lang="en-US" b="true" sz="4650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ABSTRACT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8253" y="2284134"/>
            <a:ext cx="11911494" cy="629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93205" indent="-296603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Modern applications require ultra-fast data access with strong durability guarantees</a:t>
            </a:r>
          </a:p>
          <a:p>
            <a:pPr algn="ctr" marL="593205" indent="-296603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Existing in-memory key–value stores often sacrifice persistence for speed or suffer performance bottlenecks</a:t>
            </a:r>
          </a:p>
          <a:p>
            <a:pPr algn="ctr" marL="593205" indent="-296603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PyKV introduces a hybrid in-memory data store with an adaptive persistence engine</a:t>
            </a:r>
          </a:p>
          <a:p>
            <a:pPr algn="ctr" marL="593205" indent="-296603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Dynamically balances speed, durability, and memory efficiency based on workload patterns</a:t>
            </a:r>
          </a:p>
          <a:p>
            <a:pPr algn="ctr" marL="593205" indent="-296603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Uses event-based logging, selective persistence, and background compaction intelligently</a:t>
            </a:r>
          </a:p>
          <a:p>
            <a:pPr algn="ctr" marL="593205" indent="-296603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Lightweight, extensible, and ideal for education, edge systems, and real-time analytics</a:t>
            </a:r>
          </a:p>
          <a:p>
            <a:pPr algn="ctr">
              <a:lnSpc>
                <a:spcPts val="384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2043" y="1481074"/>
            <a:ext cx="14563914" cy="7324852"/>
            <a:chOff x="0" y="0"/>
            <a:chExt cx="3835763" cy="19291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35763" cy="1929179"/>
            </a:xfrm>
            <a:custGeom>
              <a:avLst/>
              <a:gdLst/>
              <a:ahLst/>
              <a:cxnLst/>
              <a:rect r="r" b="b" t="t" l="l"/>
              <a:pathLst>
                <a:path h="1929179" w="3835763">
                  <a:moveTo>
                    <a:pt x="27111" y="0"/>
                  </a:moveTo>
                  <a:lnTo>
                    <a:pt x="3808652" y="0"/>
                  </a:lnTo>
                  <a:cubicBezTo>
                    <a:pt x="3823625" y="0"/>
                    <a:pt x="3835763" y="12138"/>
                    <a:pt x="3835763" y="27111"/>
                  </a:cubicBezTo>
                  <a:lnTo>
                    <a:pt x="3835763" y="1902068"/>
                  </a:lnTo>
                  <a:cubicBezTo>
                    <a:pt x="3835763" y="1909259"/>
                    <a:pt x="3832907" y="1916154"/>
                    <a:pt x="3827823" y="1921239"/>
                  </a:cubicBezTo>
                  <a:cubicBezTo>
                    <a:pt x="3822738" y="1926323"/>
                    <a:pt x="3815843" y="1929179"/>
                    <a:pt x="3808652" y="1929179"/>
                  </a:cubicBezTo>
                  <a:lnTo>
                    <a:pt x="27111" y="1929179"/>
                  </a:lnTo>
                  <a:cubicBezTo>
                    <a:pt x="12138" y="1929179"/>
                    <a:pt x="0" y="1917041"/>
                    <a:pt x="0" y="1902068"/>
                  </a:cubicBezTo>
                  <a:lnTo>
                    <a:pt x="0" y="27111"/>
                  </a:lnTo>
                  <a:cubicBezTo>
                    <a:pt x="0" y="12138"/>
                    <a:pt x="12138" y="0"/>
                    <a:pt x="2711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3835763" cy="2005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A152F">
                      <a:alpha val="74902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In-memory key–value stores face latency due to persistence mechanisms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A152F">
                      <a:alpha val="74902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Risk of data loss during crashes or sudden shutdowns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A152F">
                      <a:alpha val="74902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Lack of adaptability to changing workloads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A152F">
                      <a:alpha val="74902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Overly complex designs unsuitable for learning and extension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 marL="582925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A152F">
                      <a:alpha val="74902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Low transparency in memory and persistence behavior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091794" y="1763795"/>
            <a:ext cx="6104412" cy="65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12313" y="895350"/>
            <a:ext cx="9866706" cy="88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4"/>
              </a:lnSpc>
            </a:pPr>
            <a:r>
              <a:rPr lang="en-US" sz="498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NEED &amp; SOLUTION DIRECTION: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5116" y="3451205"/>
            <a:ext cx="7089527" cy="5410639"/>
            <a:chOff x="0" y="0"/>
            <a:chExt cx="1867201" cy="1425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67201" cy="1425024"/>
            </a:xfrm>
            <a:custGeom>
              <a:avLst/>
              <a:gdLst/>
              <a:ahLst/>
              <a:cxnLst/>
              <a:rect r="r" b="b" t="t" l="l"/>
              <a:pathLst>
                <a:path h="1425024" w="1867201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1369331"/>
                  </a:lnTo>
                  <a:cubicBezTo>
                    <a:pt x="1867201" y="1384102"/>
                    <a:pt x="1861333" y="1398268"/>
                    <a:pt x="1850888" y="1408712"/>
                  </a:cubicBezTo>
                  <a:cubicBezTo>
                    <a:pt x="1840444" y="1419157"/>
                    <a:pt x="1826278" y="1425024"/>
                    <a:pt x="1811507" y="1425024"/>
                  </a:cubicBezTo>
                  <a:lnTo>
                    <a:pt x="55693" y="1425024"/>
                  </a:lnTo>
                  <a:cubicBezTo>
                    <a:pt x="40922" y="1425024"/>
                    <a:pt x="26757" y="1419157"/>
                    <a:pt x="16312" y="1408712"/>
                  </a:cubicBezTo>
                  <a:cubicBezTo>
                    <a:pt x="5868" y="1398268"/>
                    <a:pt x="0" y="1384102"/>
                    <a:pt x="0" y="1369331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867201" cy="1482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83357" y="3451205"/>
            <a:ext cx="7089527" cy="5410639"/>
            <a:chOff x="0" y="0"/>
            <a:chExt cx="1867201" cy="14250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67201" cy="1425024"/>
            </a:xfrm>
            <a:custGeom>
              <a:avLst/>
              <a:gdLst/>
              <a:ahLst/>
              <a:cxnLst/>
              <a:rect r="r" b="b" t="t" l="l"/>
              <a:pathLst>
                <a:path h="1425024" w="1867201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1369331"/>
                  </a:lnTo>
                  <a:cubicBezTo>
                    <a:pt x="1867201" y="1384102"/>
                    <a:pt x="1861333" y="1398268"/>
                    <a:pt x="1850888" y="1408712"/>
                  </a:cubicBezTo>
                  <a:cubicBezTo>
                    <a:pt x="1840444" y="1419157"/>
                    <a:pt x="1826278" y="1425024"/>
                    <a:pt x="1811507" y="1425024"/>
                  </a:cubicBezTo>
                  <a:lnTo>
                    <a:pt x="55693" y="1425024"/>
                  </a:lnTo>
                  <a:cubicBezTo>
                    <a:pt x="40922" y="1425024"/>
                    <a:pt x="26757" y="1419157"/>
                    <a:pt x="16312" y="1408712"/>
                  </a:cubicBezTo>
                  <a:cubicBezTo>
                    <a:pt x="5868" y="1398268"/>
                    <a:pt x="0" y="1384102"/>
                    <a:pt x="0" y="1369331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867201" cy="1482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113452" y="3753441"/>
            <a:ext cx="6092856" cy="209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 simple, adaptive in-memory key–value store that ensures high speed, durability, and flexibility.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1692" y="3753441"/>
            <a:ext cx="6092856" cy="209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PyKV rethinks persistence integration to balance performance and reliability efficiently.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4679" y="1442420"/>
            <a:ext cx="15018641" cy="7402160"/>
            <a:chOff x="0" y="0"/>
            <a:chExt cx="3955527" cy="1949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5527" cy="1949540"/>
            </a:xfrm>
            <a:custGeom>
              <a:avLst/>
              <a:gdLst/>
              <a:ahLst/>
              <a:cxnLst/>
              <a:rect r="r" b="b" t="t" l="l"/>
              <a:pathLst>
                <a:path h="1949540" w="3955527">
                  <a:moveTo>
                    <a:pt x="26290" y="0"/>
                  </a:moveTo>
                  <a:lnTo>
                    <a:pt x="3929237" y="0"/>
                  </a:lnTo>
                  <a:cubicBezTo>
                    <a:pt x="3943757" y="0"/>
                    <a:pt x="3955527" y="11770"/>
                    <a:pt x="3955527" y="26290"/>
                  </a:cubicBezTo>
                  <a:lnTo>
                    <a:pt x="3955527" y="1923250"/>
                  </a:lnTo>
                  <a:cubicBezTo>
                    <a:pt x="3955527" y="1937770"/>
                    <a:pt x="3943757" y="1949540"/>
                    <a:pt x="3929237" y="1949540"/>
                  </a:cubicBezTo>
                  <a:lnTo>
                    <a:pt x="26290" y="1949540"/>
                  </a:lnTo>
                  <a:cubicBezTo>
                    <a:pt x="11770" y="1949540"/>
                    <a:pt x="0" y="1937770"/>
                    <a:pt x="0" y="1923250"/>
                  </a:cubicBezTo>
                  <a:lnTo>
                    <a:pt x="0" y="26290"/>
                  </a:lnTo>
                  <a:cubicBezTo>
                    <a:pt x="0" y="11770"/>
                    <a:pt x="11770" y="0"/>
                    <a:pt x="2629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955527" cy="200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070972" y="1588395"/>
            <a:ext cx="8146056" cy="110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7"/>
              </a:lnSpc>
            </a:pPr>
            <a:r>
              <a:rPr lang="en-US" b="true" sz="6133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CORE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2420" y="2818884"/>
            <a:ext cx="8783161" cy="574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95085" indent="-297542" lvl="1">
              <a:lnSpc>
                <a:spcPts val="3858"/>
              </a:lnSpc>
              <a:buFont typeface="Arial"/>
              <a:buChar char="•"/>
            </a:pPr>
            <a:r>
              <a:rPr lang="en-US" sz="275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Ultra-fast read/write operations</a:t>
            </a:r>
          </a:p>
          <a:p>
            <a:pPr algn="ctr">
              <a:lnSpc>
                <a:spcPts val="3858"/>
              </a:lnSpc>
            </a:pPr>
          </a:p>
          <a:p>
            <a:pPr algn="ctr" marL="595085" indent="-297542" lvl="1">
              <a:lnSpc>
                <a:spcPts val="3858"/>
              </a:lnSpc>
              <a:buFont typeface="Arial"/>
              <a:buChar char="•"/>
            </a:pPr>
            <a:r>
              <a:rPr lang="en-US" sz="275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Intelligent persistence without constant disk pressure</a:t>
            </a:r>
          </a:p>
          <a:p>
            <a:pPr algn="ctr">
              <a:lnSpc>
                <a:spcPts val="3858"/>
              </a:lnSpc>
            </a:pPr>
          </a:p>
          <a:p>
            <a:pPr algn="ctr" marL="595085" indent="-297542" lvl="1">
              <a:lnSpc>
                <a:spcPts val="3858"/>
              </a:lnSpc>
              <a:buFont typeface="Arial"/>
              <a:buChar char="•"/>
            </a:pPr>
            <a:r>
              <a:rPr lang="en-US" sz="275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Crash-safe recovery with minimal data loss</a:t>
            </a:r>
          </a:p>
          <a:p>
            <a:pPr algn="ctr">
              <a:lnSpc>
                <a:spcPts val="3858"/>
              </a:lnSpc>
            </a:pPr>
          </a:p>
          <a:p>
            <a:pPr algn="ctr" marL="595085" indent="-297542" lvl="1">
              <a:lnSpc>
                <a:spcPts val="3858"/>
              </a:lnSpc>
              <a:buFont typeface="Arial"/>
              <a:buChar char="•"/>
            </a:pPr>
            <a:r>
              <a:rPr lang="en-US" sz="275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Scalable architecture for future distribution</a:t>
            </a:r>
          </a:p>
          <a:p>
            <a:pPr algn="ctr">
              <a:lnSpc>
                <a:spcPts val="3858"/>
              </a:lnSpc>
            </a:pPr>
          </a:p>
          <a:p>
            <a:pPr algn="ctr" marL="595085" indent="-297542" lvl="1">
              <a:lnSpc>
                <a:spcPts val="3858"/>
              </a:lnSpc>
              <a:buFont typeface="Arial"/>
              <a:buChar char="•"/>
            </a:pPr>
            <a:r>
              <a:rPr lang="en-US" sz="275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Educational clarity with production-grade concepts</a:t>
            </a:r>
          </a:p>
          <a:p>
            <a:pPr algn="ctr">
              <a:lnSpc>
                <a:spcPts val="317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04336" y="1419218"/>
            <a:ext cx="14380052" cy="7448564"/>
            <a:chOff x="0" y="0"/>
            <a:chExt cx="3787339" cy="19617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7339" cy="1961762"/>
            </a:xfrm>
            <a:custGeom>
              <a:avLst/>
              <a:gdLst/>
              <a:ahLst/>
              <a:cxnLst/>
              <a:rect r="r" b="b" t="t" l="l"/>
              <a:pathLst>
                <a:path h="1961762" w="3787339">
                  <a:moveTo>
                    <a:pt x="27457" y="0"/>
                  </a:moveTo>
                  <a:lnTo>
                    <a:pt x="3759881" y="0"/>
                  </a:lnTo>
                  <a:cubicBezTo>
                    <a:pt x="3767163" y="0"/>
                    <a:pt x="3774147" y="2893"/>
                    <a:pt x="3779296" y="8042"/>
                  </a:cubicBezTo>
                  <a:cubicBezTo>
                    <a:pt x="3784446" y="13191"/>
                    <a:pt x="3787339" y="20175"/>
                    <a:pt x="3787339" y="27457"/>
                  </a:cubicBezTo>
                  <a:lnTo>
                    <a:pt x="3787339" y="1934304"/>
                  </a:lnTo>
                  <a:cubicBezTo>
                    <a:pt x="3787339" y="1941587"/>
                    <a:pt x="3784446" y="1948570"/>
                    <a:pt x="3779296" y="1953720"/>
                  </a:cubicBezTo>
                  <a:cubicBezTo>
                    <a:pt x="3774147" y="1958869"/>
                    <a:pt x="3767163" y="1961762"/>
                    <a:pt x="3759881" y="1961762"/>
                  </a:cubicBezTo>
                  <a:lnTo>
                    <a:pt x="27457" y="1961762"/>
                  </a:lnTo>
                  <a:cubicBezTo>
                    <a:pt x="20175" y="1961762"/>
                    <a:pt x="13191" y="1958869"/>
                    <a:pt x="8042" y="1953720"/>
                  </a:cubicBezTo>
                  <a:cubicBezTo>
                    <a:pt x="2893" y="1948570"/>
                    <a:pt x="0" y="1941587"/>
                    <a:pt x="0" y="1934304"/>
                  </a:cubicBezTo>
                  <a:lnTo>
                    <a:pt x="0" y="27457"/>
                  </a:lnTo>
                  <a:cubicBezTo>
                    <a:pt x="0" y="20175"/>
                    <a:pt x="2893" y="13191"/>
                    <a:pt x="8042" y="8042"/>
                  </a:cubicBezTo>
                  <a:cubicBezTo>
                    <a:pt x="13191" y="2893"/>
                    <a:pt x="20175" y="0"/>
                    <a:pt x="27457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787339" cy="2018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80165" y="1777611"/>
            <a:ext cx="12327671" cy="793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TASKS / MODULES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04336" y="3442091"/>
            <a:ext cx="14380052" cy="379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8872" indent="-289436" lvl="1">
              <a:lnSpc>
                <a:spcPts val="3753"/>
              </a:lnSpc>
              <a:buFont typeface="Arial"/>
              <a:buChar char="•"/>
            </a:pPr>
            <a:r>
              <a:rPr lang="en-US" sz="268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Core Storage Engine – In-memory CRUD operations with hash-based indexing</a:t>
            </a:r>
          </a:p>
          <a:p>
            <a:pPr algn="l" marL="578872" indent="-289436" lvl="1">
              <a:lnSpc>
                <a:spcPts val="3753"/>
              </a:lnSpc>
              <a:buFont typeface="Arial"/>
              <a:buChar char="•"/>
            </a:pPr>
            <a:r>
              <a:rPr lang="en-US" sz="268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Adaptive Persistence – WAL, selective persistence, snapshots</a:t>
            </a:r>
          </a:p>
          <a:p>
            <a:pPr algn="l" marL="578872" indent="-289436" lvl="1">
              <a:lnSpc>
                <a:spcPts val="3753"/>
              </a:lnSpc>
              <a:buFont typeface="Arial"/>
              <a:buChar char="•"/>
            </a:pPr>
            <a:r>
              <a:rPr lang="en-US" sz="268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Recovery Manager – Crash recovery, partial restore, checksum validation</a:t>
            </a:r>
          </a:p>
          <a:p>
            <a:pPr algn="l" marL="578872" indent="-289436" lvl="1">
              <a:lnSpc>
                <a:spcPts val="3753"/>
              </a:lnSpc>
              <a:buFont typeface="Arial"/>
              <a:buChar char="•"/>
            </a:pPr>
            <a:r>
              <a:rPr lang="en-US" sz="268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Memory Management – LRU/LFU eviction, hot–cold data handling</a:t>
            </a:r>
          </a:p>
          <a:p>
            <a:pPr algn="l" marL="578872" indent="-289436" lvl="1">
              <a:lnSpc>
                <a:spcPts val="3753"/>
              </a:lnSpc>
              <a:buFont typeface="Arial"/>
              <a:buChar char="•"/>
            </a:pPr>
            <a:r>
              <a:rPr lang="en-US" sz="268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Concurrency Control – Thread-safe access, async background persistence</a:t>
            </a:r>
          </a:p>
          <a:p>
            <a:pPr algn="l" marL="578872" indent="-289436" lvl="1">
              <a:lnSpc>
                <a:spcPts val="3753"/>
              </a:lnSpc>
              <a:buFont typeface="Arial"/>
              <a:buChar char="•"/>
            </a:pPr>
            <a:r>
              <a:rPr lang="en-US" sz="268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Monitoring &amp; Introspection – Real-time metrics, CLI dashboard, logging</a:t>
            </a:r>
          </a:p>
          <a:p>
            <a:pPr algn="l" marL="578872" indent="-289436" lvl="1">
              <a:lnSpc>
                <a:spcPts val="3753"/>
              </a:lnSpc>
              <a:buFont typeface="Arial"/>
              <a:buChar char="•"/>
            </a:pPr>
            <a:r>
              <a:rPr lang="en-US" sz="268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Configuration &amp; API – CLI, optional REST API, YAML/JSON configs</a:t>
            </a:r>
          </a:p>
          <a:p>
            <a:pPr algn="l">
              <a:lnSpc>
                <a:spcPts val="375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4679" y="1230148"/>
            <a:ext cx="15018641" cy="7402160"/>
            <a:chOff x="0" y="0"/>
            <a:chExt cx="3955527" cy="1949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5527" cy="1949540"/>
            </a:xfrm>
            <a:custGeom>
              <a:avLst/>
              <a:gdLst/>
              <a:ahLst/>
              <a:cxnLst/>
              <a:rect r="r" b="b" t="t" l="l"/>
              <a:pathLst>
                <a:path h="1949540" w="3955527">
                  <a:moveTo>
                    <a:pt x="26290" y="0"/>
                  </a:moveTo>
                  <a:lnTo>
                    <a:pt x="3929237" y="0"/>
                  </a:lnTo>
                  <a:cubicBezTo>
                    <a:pt x="3943757" y="0"/>
                    <a:pt x="3955527" y="11770"/>
                    <a:pt x="3955527" y="26290"/>
                  </a:cubicBezTo>
                  <a:lnTo>
                    <a:pt x="3955527" y="1923250"/>
                  </a:lnTo>
                  <a:cubicBezTo>
                    <a:pt x="3955527" y="1937770"/>
                    <a:pt x="3943757" y="1949540"/>
                    <a:pt x="3929237" y="1949540"/>
                  </a:cubicBezTo>
                  <a:lnTo>
                    <a:pt x="26290" y="1949540"/>
                  </a:lnTo>
                  <a:cubicBezTo>
                    <a:pt x="11770" y="1949540"/>
                    <a:pt x="0" y="1937770"/>
                    <a:pt x="0" y="1923250"/>
                  </a:cubicBezTo>
                  <a:lnTo>
                    <a:pt x="0" y="26290"/>
                  </a:lnTo>
                  <a:cubicBezTo>
                    <a:pt x="0" y="11770"/>
                    <a:pt x="11770" y="0"/>
                    <a:pt x="2629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955527" cy="200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070972" y="1687936"/>
            <a:ext cx="8146056" cy="132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7"/>
              </a:lnSpc>
            </a:pPr>
            <a:r>
              <a:rPr lang="en-US" b="true" sz="3733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UNIQUE FEATURES &amp; FUNCTIONALITIES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5304" y="3215386"/>
            <a:ext cx="15097392" cy="192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5082" indent="-387541" lvl="1">
              <a:lnSpc>
                <a:spcPts val="5026"/>
              </a:lnSpc>
              <a:spcBef>
                <a:spcPct val="0"/>
              </a:spcBef>
              <a:buAutoNum type="arabicPeriod" startAt="1"/>
            </a:pPr>
            <a:r>
              <a:rPr lang="en-US" sz="359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Adaptive Persistence Mode:</a:t>
            </a:r>
          </a:p>
          <a:p>
            <a:pPr algn="ctr">
              <a:lnSpc>
                <a:spcPts val="5026"/>
              </a:lnSpc>
              <a:spcBef>
                <a:spcPct val="0"/>
              </a:spcBef>
            </a:pPr>
            <a:r>
              <a:rPr lang="en-US" sz="359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Automatically adjusts persistence using write frequency, memory pressure, and idle 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5304" y="5812440"/>
            <a:ext cx="15018641" cy="128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5082" indent="-387541" lvl="1">
              <a:lnSpc>
                <a:spcPts val="5026"/>
              </a:lnSpc>
              <a:spcBef>
                <a:spcPct val="0"/>
              </a:spcBef>
              <a:buAutoNum type="arabicPeriod" startAt="1"/>
            </a:pPr>
            <a:r>
              <a:rPr lang="en-US" sz="359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Hot-Key Aware Persistence:</a:t>
            </a:r>
          </a:p>
          <a:p>
            <a:pPr algn="ctr">
              <a:lnSpc>
                <a:spcPts val="5026"/>
              </a:lnSpc>
              <a:spcBef>
                <a:spcPct val="0"/>
              </a:spcBef>
            </a:pPr>
            <a:r>
              <a:rPr lang="en-US" sz="359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Hot keys stay in memory longer; cold data is persisted earlier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4679" y="1442420"/>
            <a:ext cx="15018641" cy="7402160"/>
            <a:chOff x="0" y="0"/>
            <a:chExt cx="3955527" cy="1949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5527" cy="1949540"/>
            </a:xfrm>
            <a:custGeom>
              <a:avLst/>
              <a:gdLst/>
              <a:ahLst/>
              <a:cxnLst/>
              <a:rect r="r" b="b" t="t" l="l"/>
              <a:pathLst>
                <a:path h="1949540" w="3955527">
                  <a:moveTo>
                    <a:pt x="26290" y="0"/>
                  </a:moveTo>
                  <a:lnTo>
                    <a:pt x="3929237" y="0"/>
                  </a:lnTo>
                  <a:cubicBezTo>
                    <a:pt x="3943757" y="0"/>
                    <a:pt x="3955527" y="11770"/>
                    <a:pt x="3955527" y="26290"/>
                  </a:cubicBezTo>
                  <a:lnTo>
                    <a:pt x="3955527" y="1923250"/>
                  </a:lnTo>
                  <a:cubicBezTo>
                    <a:pt x="3955527" y="1937770"/>
                    <a:pt x="3943757" y="1949540"/>
                    <a:pt x="3929237" y="1949540"/>
                  </a:cubicBezTo>
                  <a:lnTo>
                    <a:pt x="26290" y="1949540"/>
                  </a:lnTo>
                  <a:cubicBezTo>
                    <a:pt x="11770" y="1949540"/>
                    <a:pt x="0" y="1937770"/>
                    <a:pt x="0" y="1923250"/>
                  </a:cubicBezTo>
                  <a:lnTo>
                    <a:pt x="0" y="26290"/>
                  </a:lnTo>
                  <a:cubicBezTo>
                    <a:pt x="0" y="11770"/>
                    <a:pt x="11770" y="0"/>
                    <a:pt x="2629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955527" cy="200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81178" y="3014497"/>
            <a:ext cx="14499343" cy="4463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6016" indent="-388008" lvl="1">
              <a:lnSpc>
                <a:spcPts val="5032"/>
              </a:lnSpc>
              <a:buAutoNum type="arabicPeriod" startAt="1"/>
            </a:pPr>
            <a:r>
              <a:rPr lang="en-US" sz="359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Transparent Storage Introspection</a:t>
            </a:r>
          </a:p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Inspect in-memory keys, persisted data, and eviction reasons</a:t>
            </a:r>
          </a:p>
          <a:p>
            <a:pPr algn="ctr">
              <a:lnSpc>
                <a:spcPts val="5032"/>
              </a:lnSpc>
            </a:pPr>
          </a:p>
          <a:p>
            <a:pPr algn="ctr" marL="776016" indent="-388008" lvl="1">
              <a:lnSpc>
                <a:spcPts val="5032"/>
              </a:lnSpc>
              <a:buAutoNum type="arabicPeriod" startAt="1"/>
            </a:pPr>
            <a:r>
              <a:rPr lang="en-US" sz="359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Modular Architecture</a:t>
            </a:r>
          </a:p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Pluggable eviction strategies and persistence engines</a:t>
            </a:r>
          </a:p>
          <a:p>
            <a:pPr algn="ctr">
              <a:lnSpc>
                <a:spcPts val="5032"/>
              </a:lnSpc>
            </a:pPr>
          </a:p>
          <a:p>
            <a:pPr algn="ctr">
              <a:lnSpc>
                <a:spcPts val="503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70068" y="1809736"/>
            <a:ext cx="13347864" cy="6667528"/>
            <a:chOff x="0" y="0"/>
            <a:chExt cx="3515487" cy="17560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5487" cy="1756057"/>
            </a:xfrm>
            <a:custGeom>
              <a:avLst/>
              <a:gdLst/>
              <a:ahLst/>
              <a:cxnLst/>
              <a:rect r="r" b="b" t="t" l="l"/>
              <a:pathLst>
                <a:path h="1756057" w="3515487">
                  <a:moveTo>
                    <a:pt x="29581" y="0"/>
                  </a:moveTo>
                  <a:lnTo>
                    <a:pt x="3485906" y="0"/>
                  </a:lnTo>
                  <a:cubicBezTo>
                    <a:pt x="3502243" y="0"/>
                    <a:pt x="3515487" y="13244"/>
                    <a:pt x="3515487" y="29581"/>
                  </a:cubicBezTo>
                  <a:lnTo>
                    <a:pt x="3515487" y="1726476"/>
                  </a:lnTo>
                  <a:cubicBezTo>
                    <a:pt x="3515487" y="1734321"/>
                    <a:pt x="3512370" y="1741845"/>
                    <a:pt x="3506823" y="1747393"/>
                  </a:cubicBezTo>
                  <a:cubicBezTo>
                    <a:pt x="3501275" y="1752940"/>
                    <a:pt x="3493751" y="1756057"/>
                    <a:pt x="3485906" y="1756057"/>
                  </a:cubicBezTo>
                  <a:lnTo>
                    <a:pt x="29581" y="1756057"/>
                  </a:lnTo>
                  <a:cubicBezTo>
                    <a:pt x="21735" y="1756057"/>
                    <a:pt x="14211" y="1752940"/>
                    <a:pt x="8664" y="1747393"/>
                  </a:cubicBezTo>
                  <a:cubicBezTo>
                    <a:pt x="3117" y="1741845"/>
                    <a:pt x="0" y="1734321"/>
                    <a:pt x="0" y="1726476"/>
                  </a:cubicBezTo>
                  <a:lnTo>
                    <a:pt x="0" y="29581"/>
                  </a:lnTo>
                  <a:cubicBezTo>
                    <a:pt x="0" y="13244"/>
                    <a:pt x="13244" y="0"/>
                    <a:pt x="2958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15487" cy="1813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60329" y="1894317"/>
            <a:ext cx="6367341" cy="103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b="true" sz="5700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23591" y="3226955"/>
            <a:ext cx="12040818" cy="481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740" indent="-321370" lvl="1">
              <a:lnSpc>
                <a:spcPts val="4167"/>
              </a:lnSpc>
              <a:buFont typeface="Arial"/>
              <a:buChar char="•"/>
            </a:pPr>
            <a:r>
              <a:rPr lang="en-US" sz="297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Language: Python 3.10+</a:t>
            </a:r>
          </a:p>
          <a:p>
            <a:pPr algn="l" marL="642740" indent="-321370" lvl="1">
              <a:lnSpc>
                <a:spcPts val="4167"/>
              </a:lnSpc>
              <a:buFont typeface="Arial"/>
              <a:buChar char="•"/>
            </a:pPr>
            <a:r>
              <a:rPr lang="en-US" sz="297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Data Structures: Hash Tables, Deques, Priority Queues</a:t>
            </a:r>
          </a:p>
          <a:p>
            <a:pPr algn="l" marL="642740" indent="-321370" lvl="1">
              <a:lnSpc>
                <a:spcPts val="4167"/>
              </a:lnSpc>
              <a:buFont typeface="Arial"/>
              <a:buChar char="•"/>
            </a:pPr>
            <a:r>
              <a:rPr lang="en-US" sz="297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Persistence: WAL files, Snapshot files (Binary/JSON), Memory-mapped files (optional)</a:t>
            </a:r>
          </a:p>
          <a:p>
            <a:pPr algn="l" marL="642740" indent="-321370" lvl="1">
              <a:lnSpc>
                <a:spcPts val="4167"/>
              </a:lnSpc>
              <a:buFont typeface="Arial"/>
              <a:buChar char="•"/>
            </a:pPr>
            <a:r>
              <a:rPr lang="en-US" sz="297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Concurrency: threading, asyncio, background workers</a:t>
            </a:r>
          </a:p>
          <a:p>
            <a:pPr algn="l" marL="642740" indent="-321370" lvl="1">
              <a:lnSpc>
                <a:spcPts val="4167"/>
              </a:lnSpc>
              <a:buFont typeface="Arial"/>
              <a:buChar char="•"/>
            </a:pPr>
            <a:r>
              <a:rPr lang="en-US" sz="297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APIs: CLI (argparse/click), REST (Flask/FastAPI – optional)</a:t>
            </a:r>
          </a:p>
          <a:p>
            <a:pPr algn="l" marL="642740" indent="-321370" lvl="1">
              <a:lnSpc>
                <a:spcPts val="4167"/>
              </a:lnSpc>
              <a:buFont typeface="Arial"/>
              <a:buChar char="•"/>
            </a:pPr>
            <a:r>
              <a:rPr lang="en-US" sz="2977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Monitoring &amp; Testing: Custom metrics, logging module, PyTest, stress tests</a:t>
            </a:r>
          </a:p>
          <a:p>
            <a:pPr algn="l">
              <a:lnSpc>
                <a:spcPts val="505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70068" y="1809736"/>
            <a:ext cx="13347864" cy="6667528"/>
            <a:chOff x="0" y="0"/>
            <a:chExt cx="3515487" cy="17560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5487" cy="1756057"/>
            </a:xfrm>
            <a:custGeom>
              <a:avLst/>
              <a:gdLst/>
              <a:ahLst/>
              <a:cxnLst/>
              <a:rect r="r" b="b" t="t" l="l"/>
              <a:pathLst>
                <a:path h="1756057" w="3515487">
                  <a:moveTo>
                    <a:pt x="29581" y="0"/>
                  </a:moveTo>
                  <a:lnTo>
                    <a:pt x="3485906" y="0"/>
                  </a:lnTo>
                  <a:cubicBezTo>
                    <a:pt x="3502243" y="0"/>
                    <a:pt x="3515487" y="13244"/>
                    <a:pt x="3515487" y="29581"/>
                  </a:cubicBezTo>
                  <a:lnTo>
                    <a:pt x="3515487" y="1726476"/>
                  </a:lnTo>
                  <a:cubicBezTo>
                    <a:pt x="3515487" y="1734321"/>
                    <a:pt x="3512370" y="1741845"/>
                    <a:pt x="3506823" y="1747393"/>
                  </a:cubicBezTo>
                  <a:cubicBezTo>
                    <a:pt x="3501275" y="1752940"/>
                    <a:pt x="3493751" y="1756057"/>
                    <a:pt x="3485906" y="1756057"/>
                  </a:cubicBezTo>
                  <a:lnTo>
                    <a:pt x="29581" y="1756057"/>
                  </a:lnTo>
                  <a:cubicBezTo>
                    <a:pt x="21735" y="1756057"/>
                    <a:pt x="14211" y="1752940"/>
                    <a:pt x="8664" y="1747393"/>
                  </a:cubicBezTo>
                  <a:cubicBezTo>
                    <a:pt x="3117" y="1741845"/>
                    <a:pt x="0" y="1734321"/>
                    <a:pt x="0" y="1726476"/>
                  </a:cubicBezTo>
                  <a:lnTo>
                    <a:pt x="0" y="29581"/>
                  </a:lnTo>
                  <a:cubicBezTo>
                    <a:pt x="0" y="13244"/>
                    <a:pt x="13244" y="0"/>
                    <a:pt x="2958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15487" cy="1813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448575" y="2293946"/>
            <a:ext cx="11390851" cy="81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GAPS IN EXISTING TECHNOLOGIES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59321" y="3473251"/>
            <a:ext cx="12369357" cy="4329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277" indent="-330139" lvl="1">
              <a:lnSpc>
                <a:spcPts val="4281"/>
              </a:lnSpc>
              <a:buFont typeface="Arial"/>
              <a:buChar char="•"/>
            </a:pPr>
            <a:r>
              <a:rPr lang="en-US" sz="30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Redis – Persistence tuning is complex; limited introspection</a:t>
            </a:r>
          </a:p>
          <a:p>
            <a:pPr algn="l" marL="660277" indent="-330139" lvl="1">
              <a:lnSpc>
                <a:spcPts val="4281"/>
              </a:lnSpc>
              <a:buFont typeface="Arial"/>
              <a:buChar char="•"/>
            </a:pPr>
            <a:r>
              <a:rPr lang="en-US" sz="30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Memcached – No built-in persistence support</a:t>
            </a:r>
          </a:p>
          <a:p>
            <a:pPr algn="l" marL="660277" indent="-330139" lvl="1">
              <a:lnSpc>
                <a:spcPts val="4281"/>
              </a:lnSpc>
              <a:buFont typeface="Arial"/>
              <a:buChar char="•"/>
            </a:pPr>
            <a:r>
              <a:rPr lang="en-US" sz="30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LevelDB / RocksDB – Disk-first design causes higher read latency</a:t>
            </a:r>
          </a:p>
          <a:p>
            <a:pPr algn="l" marL="660277" indent="-330139" lvl="1">
              <a:lnSpc>
                <a:spcPts val="4281"/>
              </a:lnSpc>
              <a:buFont typeface="Arial"/>
              <a:buChar char="•"/>
            </a:pPr>
            <a:r>
              <a:rPr lang="en-US" sz="30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Etcd – Heavyweight system with complex consensus overhead</a:t>
            </a:r>
          </a:p>
          <a:p>
            <a:pPr algn="l" marL="660277" indent="-330139" lvl="1">
              <a:lnSpc>
                <a:spcPts val="4281"/>
              </a:lnSpc>
              <a:buFont typeface="Arial"/>
              <a:buChar char="•"/>
            </a:pPr>
            <a:r>
              <a:rPr lang="en-US" sz="3058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In-Memory Databases – Poor adaptability to changing workloads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12609" y="1503851"/>
            <a:ext cx="14862783" cy="7279297"/>
            <a:chOff x="0" y="0"/>
            <a:chExt cx="4808252" cy="23549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08252" cy="2354922"/>
            </a:xfrm>
            <a:custGeom>
              <a:avLst/>
              <a:gdLst/>
              <a:ahLst/>
              <a:cxnLst/>
              <a:rect r="r" b="b" t="t" l="l"/>
              <a:pathLst>
                <a:path h="2354922" w="4808252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328357"/>
                  </a:lnTo>
                  <a:cubicBezTo>
                    <a:pt x="4808252" y="2335402"/>
                    <a:pt x="4805454" y="2342159"/>
                    <a:pt x="4800471" y="2347141"/>
                  </a:cubicBezTo>
                  <a:cubicBezTo>
                    <a:pt x="4795489" y="2352123"/>
                    <a:pt x="4788733" y="2354922"/>
                    <a:pt x="4781687" y="2354922"/>
                  </a:cubicBezTo>
                  <a:lnTo>
                    <a:pt x="26566" y="2354922"/>
                  </a:lnTo>
                  <a:cubicBezTo>
                    <a:pt x="19520" y="2354922"/>
                    <a:pt x="12763" y="2352123"/>
                    <a:pt x="7781" y="2347141"/>
                  </a:cubicBezTo>
                  <a:cubicBezTo>
                    <a:pt x="2799" y="2342159"/>
                    <a:pt x="0" y="2335402"/>
                    <a:pt x="0" y="2328357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08252" cy="24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01157" y="2116234"/>
            <a:ext cx="9085687" cy="1102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b="true" sz="6082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KEY OBSERVATION: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48575" y="3623506"/>
            <a:ext cx="11390851" cy="125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2"/>
              </a:lnSpc>
            </a:pPr>
            <a:r>
              <a:rPr lang="en-US" sz="35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Most existing systems trade speed for durability or lack flexibility and transparency.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4679" y="1442420"/>
            <a:ext cx="15018641" cy="7402160"/>
            <a:chOff x="0" y="0"/>
            <a:chExt cx="3955527" cy="1949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5527" cy="1949540"/>
            </a:xfrm>
            <a:custGeom>
              <a:avLst/>
              <a:gdLst/>
              <a:ahLst/>
              <a:cxnLst/>
              <a:rect r="r" b="b" t="t" l="l"/>
              <a:pathLst>
                <a:path h="1949540" w="3955527">
                  <a:moveTo>
                    <a:pt x="26290" y="0"/>
                  </a:moveTo>
                  <a:lnTo>
                    <a:pt x="3929237" y="0"/>
                  </a:lnTo>
                  <a:cubicBezTo>
                    <a:pt x="3943757" y="0"/>
                    <a:pt x="3955527" y="11770"/>
                    <a:pt x="3955527" y="26290"/>
                  </a:cubicBezTo>
                  <a:lnTo>
                    <a:pt x="3955527" y="1923250"/>
                  </a:lnTo>
                  <a:cubicBezTo>
                    <a:pt x="3955527" y="1937770"/>
                    <a:pt x="3943757" y="1949540"/>
                    <a:pt x="3929237" y="1949540"/>
                  </a:cubicBezTo>
                  <a:lnTo>
                    <a:pt x="26290" y="1949540"/>
                  </a:lnTo>
                  <a:cubicBezTo>
                    <a:pt x="11770" y="1949540"/>
                    <a:pt x="0" y="1937770"/>
                    <a:pt x="0" y="1923250"/>
                  </a:cubicBezTo>
                  <a:lnTo>
                    <a:pt x="0" y="26290"/>
                  </a:lnTo>
                  <a:cubicBezTo>
                    <a:pt x="0" y="11770"/>
                    <a:pt x="11770" y="0"/>
                    <a:pt x="26290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955527" cy="2006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15815" y="2104729"/>
            <a:ext cx="14737506" cy="118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87"/>
              </a:lnSpc>
            </a:pPr>
            <a:r>
              <a:rPr lang="en-US" b="true" sz="6633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PYKV DIRECTLY ADDRESSES: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7419" y="3687222"/>
            <a:ext cx="10713163" cy="474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25848" indent="-362924" lvl="1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Over-engineering</a:t>
            </a:r>
          </a:p>
          <a:p>
            <a:pPr algn="ctr">
              <a:lnSpc>
                <a:spcPts val="4706"/>
              </a:lnSpc>
            </a:pPr>
          </a:p>
          <a:p>
            <a:pPr algn="ctr" marL="725848" indent="-362924" lvl="1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Lack of adaptability</a:t>
            </a:r>
          </a:p>
          <a:p>
            <a:pPr algn="ctr">
              <a:lnSpc>
                <a:spcPts val="4706"/>
              </a:lnSpc>
            </a:pPr>
          </a:p>
          <a:p>
            <a:pPr algn="ctr" marL="725848" indent="-362924" lvl="1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Limited transparency</a:t>
            </a:r>
          </a:p>
          <a:p>
            <a:pPr algn="ctr">
              <a:lnSpc>
                <a:spcPts val="4706"/>
              </a:lnSpc>
            </a:pPr>
          </a:p>
          <a:p>
            <a:pPr algn="ctr" marL="725848" indent="-362924" lvl="1">
              <a:lnSpc>
                <a:spcPts val="4706"/>
              </a:lnSpc>
              <a:buFont typeface="Arial"/>
              <a:buChar char="•"/>
            </a:pPr>
            <a:r>
              <a:rPr lang="en-US" sz="3361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Educational inaccessibility</a:t>
            </a:r>
          </a:p>
          <a:p>
            <a:pPr algn="ctr">
              <a:lnSpc>
                <a:spcPts val="470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70068" y="1809736"/>
            <a:ext cx="13347864" cy="6667528"/>
            <a:chOff x="0" y="0"/>
            <a:chExt cx="3515487" cy="17560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5487" cy="1756057"/>
            </a:xfrm>
            <a:custGeom>
              <a:avLst/>
              <a:gdLst/>
              <a:ahLst/>
              <a:cxnLst/>
              <a:rect r="r" b="b" t="t" l="l"/>
              <a:pathLst>
                <a:path h="1756057" w="3515487">
                  <a:moveTo>
                    <a:pt x="29581" y="0"/>
                  </a:moveTo>
                  <a:lnTo>
                    <a:pt x="3485906" y="0"/>
                  </a:lnTo>
                  <a:cubicBezTo>
                    <a:pt x="3502243" y="0"/>
                    <a:pt x="3515487" y="13244"/>
                    <a:pt x="3515487" y="29581"/>
                  </a:cubicBezTo>
                  <a:lnTo>
                    <a:pt x="3515487" y="1726476"/>
                  </a:lnTo>
                  <a:cubicBezTo>
                    <a:pt x="3515487" y="1734321"/>
                    <a:pt x="3512370" y="1741845"/>
                    <a:pt x="3506823" y="1747393"/>
                  </a:cubicBezTo>
                  <a:cubicBezTo>
                    <a:pt x="3501275" y="1752940"/>
                    <a:pt x="3493751" y="1756057"/>
                    <a:pt x="3485906" y="1756057"/>
                  </a:cubicBezTo>
                  <a:lnTo>
                    <a:pt x="29581" y="1756057"/>
                  </a:lnTo>
                  <a:cubicBezTo>
                    <a:pt x="21735" y="1756057"/>
                    <a:pt x="14211" y="1752940"/>
                    <a:pt x="8664" y="1747393"/>
                  </a:cubicBezTo>
                  <a:cubicBezTo>
                    <a:pt x="3117" y="1741845"/>
                    <a:pt x="0" y="1734321"/>
                    <a:pt x="0" y="1726476"/>
                  </a:cubicBezTo>
                  <a:lnTo>
                    <a:pt x="0" y="29581"/>
                  </a:lnTo>
                  <a:cubicBezTo>
                    <a:pt x="0" y="13244"/>
                    <a:pt x="13244" y="0"/>
                    <a:pt x="29581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15487" cy="1813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04452" y="1846692"/>
            <a:ext cx="8879096" cy="136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48575" y="3123031"/>
            <a:ext cx="11390851" cy="498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PyKV delivers high-speed in-memory data access with reliable persistence.</a:t>
            </a:r>
          </a:p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Adaptive persistence reduces latency while ensuring data durability.</a:t>
            </a:r>
          </a:p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Hot-key awareness minimizes unnecessary disk operations.</a:t>
            </a:r>
          </a:p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Fast crash recovery improves system reliability and availability.</a:t>
            </a:r>
          </a:p>
          <a:p>
            <a:pPr algn="l" marL="608045" indent="-304022" lvl="1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The modular design supports scalability and future enhancement</a:t>
            </a:r>
          </a:p>
          <a:p>
            <a:pPr algn="l">
              <a:lnSpc>
                <a:spcPts val="3942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4" r="0" b="-8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7684" y="2610822"/>
            <a:ext cx="10252632" cy="503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44"/>
              </a:lnSpc>
            </a:pPr>
            <a:r>
              <a:rPr lang="en-US" b="true" sz="170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DAG97wFRxxM</dc:identifier>
  <dcterms:modified xsi:type="dcterms:W3CDTF">2011-08-01T06:04:30Z</dcterms:modified>
  <cp:revision>1</cp:revision>
  <dc:title>IS Project - PyKV: A Scalable In-Memory Key–Value Store with Intelligent Persistence</dc:title>
</cp:coreProperties>
</file>